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37744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1">
                <a:solidFill>
                  <a:srgbClr val="2563EB"/>
                </a:solidFill>
                <a:latin typeface="Microsoft YaHei"/>
              </a:rPr>
              <a:t>DX-20S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6000" b="1">
                <a:solidFill>
                  <a:srgbClr val="1E293B"/>
                </a:solidFill>
                <a:latin typeface="Microsoft YaHei"/>
              </a:rPr>
              <a:t>行车安全信息终端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00" b="0">
                <a:solidFill>
                  <a:srgbClr val="1E293B"/>
                </a:solidFill>
                <a:latin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64748B"/>
                </a:solidFill>
                <a:latin typeface="Microsoft YaHei"/>
              </a:rPr>
              <a:t>产品介绍与使用指南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29260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7315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面向一线操作人员的简明图解 · 版本 V2.1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188720"/>
            <a:ext cx="36576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508760"/>
            <a:ext cx="3017520" cy="4114800"/>
          </a:xfrm>
          <a:prstGeom prst="roundRect">
            <a:avLst>
              <a:gd name="adj" fmla="val 7000"/>
            </a:avLst>
          </a:prstGeom>
          <a:solidFill>
            <a:srgbClr val="2B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3666" y="1719986"/>
            <a:ext cx="2595068" cy="369234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320" y="1901640"/>
            <a:ext cx="1115880" cy="4993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93C5FD"/>
                </a:solidFill>
                <a:latin typeface="Microsoft YaHei"/>
              </a:rPr>
              <a:t>20:30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2788" y="2147573"/>
            <a:ext cx="84807" cy="153551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33303" y="2098886"/>
            <a:ext cx="84807" cy="20223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53818" y="2050199"/>
            <a:ext cx="84807" cy="2509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74333" y="2001511"/>
            <a:ext cx="84807" cy="29961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6092" y="1976543"/>
            <a:ext cx="446352" cy="349549"/>
          </a:xfrm>
          <a:prstGeom prst="roundRect">
            <a:avLst>
              <a:gd name="adj" fmla="val 400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79654" y="2030105"/>
            <a:ext cx="237459" cy="242425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72444" y="2072669"/>
            <a:ext cx="44635" cy="157297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320" y="2500867"/>
            <a:ext cx="1383691" cy="80879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Microsoft YaHei"/>
              </a:rPr>
              <a:t>G1234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2917" y="2548443"/>
            <a:ext cx="714163" cy="618493"/>
          </a:xfrm>
          <a:prstGeom prst="roundRect">
            <a:avLst>
              <a:gd name="adj" fmla="val 3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2917" y="2548443"/>
            <a:ext cx="714163" cy="61849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上行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320" y="3499971"/>
            <a:ext cx="624892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限速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0212" y="3499971"/>
            <a:ext cx="1606867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348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320" y="3959876"/>
            <a:ext cx="624892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里程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0212" y="3959876"/>
            <a:ext cx="1606867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1234.5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320" y="4419781"/>
            <a:ext cx="624892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线路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0212" y="4419781"/>
            <a:ext cx="1606867" cy="45990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京沪线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320" y="4912978"/>
            <a:ext cx="2231760" cy="43277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</a:rPr>
              <a:t>[K] 确认   [C] 返回   [X] 翻看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</a:rPr>
              <a:t>从认识设备到日常使用，四步带你上手这台信息终端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03120"/>
            <a:ext cx="105156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103120"/>
            <a:ext cx="10515600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59436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67712"/>
            <a:ext cx="8961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认识设备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761488"/>
            <a:ext cx="89611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它是什么，长什么样，按键怎么用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429000"/>
            <a:ext cx="105156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3429000"/>
            <a:ext cx="10515600" cy="1143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370332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59436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593592"/>
            <a:ext cx="8961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日常使用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87368"/>
            <a:ext cx="89611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主屏幕怎么看，信息来了怎么处理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754880"/>
            <a:ext cx="105156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754880"/>
            <a:ext cx="10515600" cy="114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502920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59436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919472"/>
            <a:ext cx="89611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常用设置与保障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413248"/>
            <a:ext cx="896112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个性设置、信息筛选、常见问题与保养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73736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1737360"/>
            <a:ext cx="2286000" cy="2286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400" b="1">
                <a:solidFill>
                  <a:srgbClr val="1E293B"/>
                </a:solidFill>
                <a:latin typeface="Microsoft YaHei"/>
              </a:rPr>
              <a:t>认识设备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</a:rPr>
              <a:t>它是什么，长什么样，按键怎么用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475488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200" b="0">
                <a:solidFill>
                  <a:srgbClr val="1E293B"/>
                </a:solidFill>
                <a:latin typeface="Microsoft YaHei"/>
              </a:rPr>
              <a:t>一台放在驾驶室里的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600" b="1">
                <a:solidFill>
                  <a:srgbClr val="2563EB"/>
                </a:solidFill>
                <a:latin typeface="Microsoft YaHei"/>
              </a:rPr>
              <a:t>行车安全信息终端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800" b="0">
                <a:solidFill>
                  <a:srgbClr val="1E293B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0">
                <a:solidFill>
                  <a:srgbClr val="64748B"/>
                </a:solidFill>
                <a:latin typeface="Microsoft YaHei"/>
              </a:rPr>
              <a:t>它自动接收由运指中心发来的前方安全信息，在屏幕上清晰显示，并配合声音与震动提醒您，帮您提前知道前方哪里要限速、哪里有人在作业。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463040"/>
            <a:ext cx="5394960" cy="1325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8745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8745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自动接收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21408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后台持续监听，重要提示主动送到眼前，无需手动操作。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944368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944368"/>
            <a:ext cx="5394960" cy="1325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3558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355848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27248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清晰显示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02736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车次、方向、速度、里程、线路一目了然，绿/红区分上下行。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425696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4425696"/>
            <a:ext cx="5394960" cy="1325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4837176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837176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08576"/>
            <a:ext cx="4297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声音 + 震动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84064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可设只响、只震、又响又震或静音，夜间也不漏提醒。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外观与按键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8404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737360"/>
            <a:ext cx="3200400" cy="3931920"/>
          </a:xfrm>
          <a:prstGeom prst="roundRect">
            <a:avLst>
              <a:gd name="adj" fmla="val 7000"/>
            </a:avLst>
          </a:prstGeom>
          <a:solidFill>
            <a:srgbClr val="2B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67028" y="1961388"/>
            <a:ext cx="2752344" cy="348386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9692" y="2154052"/>
            <a:ext cx="1183508" cy="4647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93C5FD"/>
                </a:solidFill>
                <a:latin typeface="Microsoft YaHei"/>
              </a:rPr>
              <a:t>20:30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1550" y="2382957"/>
            <a:ext cx="89946" cy="142919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9368" y="2337641"/>
            <a:ext cx="89946" cy="18823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7186" y="2292325"/>
            <a:ext cx="89946" cy="23355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5004" y="2247008"/>
            <a:ext cx="89946" cy="2788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5964" y="2223769"/>
            <a:ext cx="473403" cy="325346"/>
          </a:xfrm>
          <a:prstGeom prst="roundRect">
            <a:avLst>
              <a:gd name="adj" fmla="val 400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62772" y="2280577"/>
            <a:ext cx="251850" cy="21173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79367" y="2313239"/>
            <a:ext cx="47340" cy="146405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9692" y="2711788"/>
            <a:ext cx="1467549" cy="76081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Microsoft YaHei"/>
              </a:rPr>
              <a:t>G1234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9263" y="2756541"/>
            <a:ext cx="757445" cy="581801"/>
          </a:xfrm>
          <a:prstGeom prst="roundRect">
            <a:avLst>
              <a:gd name="adj" fmla="val 3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9263" y="2756541"/>
            <a:ext cx="757445" cy="58180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上行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9692" y="3651621"/>
            <a:ext cx="662764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限速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2456" y="3651621"/>
            <a:ext cx="1704251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348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9692" y="4084242"/>
            <a:ext cx="662764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里程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2456" y="4084242"/>
            <a:ext cx="1704251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1234.5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9692" y="4516863"/>
            <a:ext cx="662764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线路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2456" y="4516863"/>
            <a:ext cx="1704251" cy="43262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京沪线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9692" y="4980472"/>
            <a:ext cx="2367016" cy="40280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</a:rPr>
              <a:t>[K] 确认   [C] 返回   [X] 翻看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1554480"/>
            <a:ext cx="6309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554480"/>
            <a:ext cx="6309360" cy="841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30368" y="17465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0368" y="174650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1664208"/>
            <a:ext cx="5303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左键（上）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011680"/>
            <a:ext cx="53035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向上选择 / 翻看上一条信息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2523744"/>
            <a:ext cx="6309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2523744"/>
            <a:ext cx="6309360" cy="841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30368" y="27157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0368" y="271576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633472"/>
            <a:ext cx="5303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确认键（中上）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2980944"/>
            <a:ext cx="53035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进入菜单 / 打开一条信息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3493008"/>
            <a:ext cx="6309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3493008"/>
            <a:ext cx="6309360" cy="841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30368" y="3685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368503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602736"/>
            <a:ext cx="5303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右键（中下）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950208"/>
            <a:ext cx="53035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返回 / 退出当前页面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4462272"/>
            <a:ext cx="6309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4462272"/>
            <a:ext cx="6309360" cy="841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30368" y="46542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30368" y="465429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4572000"/>
            <a:ext cx="5303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下键（下）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4919472"/>
            <a:ext cx="53035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向下选择 / 翻看下一条信息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532120"/>
            <a:ext cx="6309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屏幕底栏的 [K][C][X] 会提示您此刻按哪个键能做什么，跟着提示走即可。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73736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1737360"/>
            <a:ext cx="2286000" cy="2286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400" b="1">
                <a:solidFill>
                  <a:srgbClr val="1E293B"/>
                </a:solidFill>
                <a:latin typeface="Microsoft YaHei"/>
              </a:rPr>
              <a:t>日常使用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</a:rPr>
              <a:t>主屏幕怎么看，信息来了怎么处理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主屏幕怎么看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258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600200"/>
            <a:ext cx="3017520" cy="3108960"/>
          </a:xfrm>
          <a:prstGeom prst="roundRect">
            <a:avLst>
              <a:gd name="adj" fmla="val 7000"/>
            </a:avLst>
          </a:prstGeom>
          <a:solidFill>
            <a:srgbClr val="2B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83226" y="1811426"/>
            <a:ext cx="2595068" cy="268650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4880" y="1993080"/>
            <a:ext cx="1115880" cy="348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93C5FD"/>
                </a:solidFill>
                <a:latin typeface="Microsoft YaHei"/>
              </a:rPr>
              <a:t>20:30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348" y="2164707"/>
            <a:ext cx="84807" cy="107157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2863" y="2130730"/>
            <a:ext cx="84807" cy="14113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3378" y="2096753"/>
            <a:ext cx="84807" cy="17511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53893" y="2062776"/>
            <a:ext cx="84807" cy="2090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5652" y="2045352"/>
            <a:ext cx="446352" cy="243935"/>
          </a:xfrm>
          <a:prstGeom prst="roundRect">
            <a:avLst>
              <a:gd name="adj" fmla="val 400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59214" y="2098914"/>
            <a:ext cx="237459" cy="136811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52004" y="2112434"/>
            <a:ext cx="44635" cy="10977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4880" y="2411256"/>
            <a:ext cx="1383691" cy="5830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Microsoft YaHei"/>
              </a:rPr>
              <a:t>G1234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2477" y="2445555"/>
            <a:ext cx="714163" cy="445891"/>
          </a:xfrm>
          <a:prstGeom prst="roundRect">
            <a:avLst>
              <a:gd name="adj" fmla="val 3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2477" y="2445555"/>
            <a:ext cx="714163" cy="445891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上行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4880" y="3131541"/>
            <a:ext cx="624892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限速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9772" y="3131541"/>
            <a:ext cx="1606867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348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4880" y="3463101"/>
            <a:ext cx="624892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里程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9772" y="3463101"/>
            <a:ext cx="1606867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1234.5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4880" y="3794661"/>
            <a:ext cx="624892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线路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9772" y="3794661"/>
            <a:ext cx="1606867" cy="33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京沪线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4880" y="4149454"/>
            <a:ext cx="2231760" cy="302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</a:rPr>
              <a:t>[K] 确认   [C] 返回   [X] 翻看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29200"/>
            <a:ext cx="345643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5029200"/>
            <a:ext cx="3456432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157216"/>
            <a:ext cx="3090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顶部状态栏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532120"/>
            <a:ext cx="3090672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日期、时间、信号格与电量一目了然。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5029200"/>
            <a:ext cx="345643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5029200"/>
            <a:ext cx="3456432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5157216"/>
            <a:ext cx="3090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中央信息区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532120"/>
            <a:ext cx="3090672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显示车次、方向（绿/红）、限速、里程、线路。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2" y="5029200"/>
            <a:ext cx="345643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2" y="5029200"/>
            <a:ext cx="3456432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5157216"/>
            <a:ext cx="3090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底部操作栏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532120"/>
            <a:ext cx="3090672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[K]确认 [C]返回 [X]翻看，随时知道怎么操作。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信息来了怎么看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63040"/>
            <a:ext cx="6766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40"/>
            <a:ext cx="6766560" cy="10789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9344"/>
            <a:ext cx="6400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1E293B"/>
                </a:solidFill>
                <a:latin typeface="Microsoft YaHei"/>
              </a:rPr>
              <a:t>① 看方向颜色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绿色=上行，红色=下行，一眼分清是否和本车相关。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670048"/>
            <a:ext cx="6766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670048"/>
            <a:ext cx="6766560" cy="10789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400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1E293B"/>
                </a:solidFill>
                <a:latin typeface="Microsoft YaHei"/>
              </a:rPr>
              <a:t>② 看里程位置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18688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确认信息生效的地点，提前规划。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877056"/>
            <a:ext cx="6766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877056"/>
            <a:ext cx="6766560" cy="10789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6400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1E293B"/>
                </a:solidFill>
                <a:latin typeface="Microsoft YaHei"/>
              </a:rPr>
              <a:t>③ 看限速要求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25696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按提示控制好速度，留意前方作业或限速区段。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084064"/>
            <a:ext cx="67665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84064"/>
            <a:ext cx="6766560" cy="10789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6400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1E293B"/>
                </a:solidFill>
                <a:latin typeface="Microsoft YaHei"/>
              </a:rPr>
              <a:t>④ 确认收到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632704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按需进行"已读确认"，避免重复打扰。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63040"/>
            <a:ext cx="338328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783080"/>
            <a:ext cx="2834640" cy="3657600"/>
          </a:xfrm>
          <a:prstGeom prst="roundRect">
            <a:avLst>
              <a:gd name="adj" fmla="val 7000"/>
            </a:avLst>
          </a:prstGeom>
          <a:solidFill>
            <a:srgbClr val="2B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28024" y="1981504"/>
            <a:ext cx="2437792" cy="326075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8669" y="2152149"/>
            <a:ext cx="1048251" cy="43791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93C5FD"/>
                </a:solidFill>
                <a:latin typeface="Microsoft YaHei"/>
              </a:rPr>
              <a:t>20:30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1745" y="2367824"/>
            <a:ext cx="79667" cy="134659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64956" y="2325127"/>
            <a:ext cx="79667" cy="1773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78167" y="2282430"/>
            <a:ext cx="79667" cy="22005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91378" y="2239732"/>
            <a:ext cx="79667" cy="26275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33940" y="2217836"/>
            <a:ext cx="419300" cy="306543"/>
          </a:xfrm>
          <a:prstGeom prst="roundRect">
            <a:avLst>
              <a:gd name="adj" fmla="val 400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84256" y="2268152"/>
            <a:ext cx="223067" cy="205911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653240" y="2302135"/>
            <a:ext cx="41930" cy="137944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8669" y="2677651"/>
            <a:ext cx="1299831" cy="7131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Microsoft YaHei"/>
              </a:rPr>
              <a:t>D2001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4291" y="2719600"/>
            <a:ext cx="670880" cy="545347"/>
          </a:xfrm>
          <a:prstGeom prst="roundRect">
            <a:avLst>
              <a:gd name="adj" fmla="val 35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4291" y="2719600"/>
            <a:ext cx="670880" cy="5453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</a:rPr>
              <a:t>下行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8669" y="3558597"/>
            <a:ext cx="587020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限速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5689" y="3558597"/>
            <a:ext cx="1509481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245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8669" y="3964112"/>
            <a:ext cx="587020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里程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5689" y="3964112"/>
            <a:ext cx="1509481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882.3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8669" y="4369627"/>
            <a:ext cx="587020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线路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5689" y="4369627"/>
            <a:ext cx="1509481" cy="4055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Microsoft YaHei"/>
              </a:rPr>
              <a:t>沪昆线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8669" y="4804337"/>
            <a:ext cx="2096502" cy="37953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</a:rPr>
              <a:t>[K] 确认   [C] 返回   [X] 翻看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73736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1737360"/>
            <a:ext cx="2286000" cy="2286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400" b="1">
                <a:solidFill>
                  <a:srgbClr val="1E293B"/>
                </a:solidFill>
                <a:latin typeface="Microsoft YaHei"/>
              </a:rPr>
              <a:t>常用设置与保障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</a:rPr>
              <a:t>个性设置、信息筛选、常见问题与保养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个性设置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554480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554480"/>
            <a:ext cx="2615184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19202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92024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26151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提示方式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28999"/>
            <a:ext cx="215798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只响 / 只震 / 又响又震 / 静音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还可选择提醒时长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554480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84448" y="1554480"/>
            <a:ext cx="2615184" cy="4023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9202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834640"/>
            <a:ext cx="26151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屏幕亮度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428999"/>
            <a:ext cx="215798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多级亮度可调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强光调亮，夜间调暗省电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554480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1554480"/>
            <a:ext cx="2615184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9202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92024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834640"/>
            <a:ext cx="26151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画面风格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28999"/>
            <a:ext cx="215798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多套配色主题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挑看着最舒服的一款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0848" y="1554480"/>
            <a:ext cx="26151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1554480"/>
            <a:ext cx="2615184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80" y="19202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92024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834640"/>
            <a:ext cx="26151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时间设置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428999"/>
            <a:ext cx="215798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自动保持时钟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需要时手动校准年/月/日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信息筛选与回看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6304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40"/>
            <a:ext cx="5212080" cy="4480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754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只看关心的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设置筛选条件，让设备只重点提示与您相关的内容：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803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3464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按运行线路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040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只关注当前所在线路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490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0332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按行驶方向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06908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只关注上行或下行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617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7200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按信息类型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37760"/>
            <a:ext cx="41148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只关注特定类别的提示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0292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5029200" cy="4480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回看历史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40280"/>
            <a:ext cx="45720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错过了或想再看看之前的信息，按左键进入"回看"，可一条条往前翻。屏幕会显示"回看 第几条 / 共几条"，方便追溯。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023360"/>
            <a:ext cx="1097280" cy="109728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2336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114800"/>
            <a:ext cx="32918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忘记的内容，随时回看补上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475488"/>
            <a:ext cx="82296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常见问题与保养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6304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40"/>
            <a:ext cx="658368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27632"/>
            <a:ext cx="6217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Q  一直显示"正在接收"正常吗？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6217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A  正常，说明设备在工作监听，没有新信息时也如此。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980944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80944"/>
            <a:ext cx="658368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45536"/>
            <a:ext cx="6217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Q  没声音 / 没震动了？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39312"/>
            <a:ext cx="6217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A  检查提示方式是否被设为静音，或是否处于免打扰场景。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498848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498848"/>
            <a:ext cx="658368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6217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Q  信息看不全 / 看不清？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57216"/>
            <a:ext cx="6217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A  调高屏幕亮度，或在画面风格里换对比更明显的主题。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46304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463040"/>
            <a:ext cx="3657600" cy="4480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73736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E293B"/>
                </a:solidFill>
                <a:latin typeface="Microsoft YaHei"/>
              </a:rPr>
              <a:t>安全与保养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377440"/>
            <a:ext cx="320040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使用标配充电配件，避免来路不明电源线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环境过热会自动关机保护，降温后再用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勿自行拆解、撞击或进水，显示屏易碎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本设备为辅助提醒，仍以现场实际为准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· 长期不用也请定期充电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327648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DX-20S 行车安全信息终端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3276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420624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-164592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600" b="1">
                <a:solidFill>
                  <a:srgbClr val="1E293B"/>
                </a:solidFill>
                <a:latin typeface="Microsoft YaHei"/>
              </a:rPr>
              <a:t>安全，从看清每一条提示开始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5175504" y="365760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Microsoft YaHei"/>
              </a:rPr>
              <a:t>DX-20S 行车安全信息终端 · 愿每一次出行都平安抵达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</a:rP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